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0A896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766560" y="2926080"/>
            <a:ext cx="1828800" cy="182880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1188720" cy="1188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457200"/>
            <a:ext cx="2377440" cy="320040"/>
          </a:xfrm>
          <a:prstGeom prst="roundRect">
            <a:avLst>
              <a:gd name="adj" fmla="val 42857"/>
            </a:avLst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457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HACKATHON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11480" y="9144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VaadVihar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411480" y="18745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Legal Guidance Platform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411480" y="2514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legal problem. Connect with the right lawyer.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11480" y="3200400"/>
            <a:ext cx="1645920" cy="34747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3200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AI Case Analysis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240280" y="3200400"/>
            <a:ext cx="1645920" cy="34747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5" name="Text 12"/>
          <p:cNvSpPr/>
          <p:nvPr/>
        </p:nvSpPr>
        <p:spPr>
          <a:xfrm>
            <a:off x="2240280" y="3200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Legal Citations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069080" y="3200400"/>
            <a:ext cx="1645920" cy="347472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17" name="Text 14"/>
          <p:cNvSpPr/>
          <p:nvPr/>
        </p:nvSpPr>
        <p:spPr>
          <a:xfrm>
            <a:off x="4069080" y="3200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Lawyer Matching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1480" y="4160520"/>
            <a:ext cx="5303520" cy="0"/>
          </a:xfrm>
          <a:prstGeom prst="line">
            <a:avLst/>
          </a:prstGeom>
          <a:noFill/>
          <a:ln w="12700">
            <a:solidFill>
              <a:srgbClr val="1A2E5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1480" y="42519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at Hackathon 2025  •  Legal Tech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344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2651760" cy="640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371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1.4B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People in India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Only ~1 lawyer per 1,000 citizens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34440"/>
            <a:ext cx="2651760" cy="640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371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9184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Cases unreported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Due to lack of awareness or access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23444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234440"/>
            <a:ext cx="2651760" cy="6400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3716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₹5,000+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21792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Avg. lawyer consult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Too expensive for rural households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971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</a:rPr>
              <a:t>Core Pain Points</a:t>
            </a:r>
            <a:endParaRPr lang="en-US" sz="15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383280"/>
            <a:ext cx="228600" cy="2286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13232" y="33467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Most people don't know which law or legal section applies to their case</a:t>
            </a:r>
            <a:endParaRPr lang="en-US" sz="12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794760"/>
            <a:ext cx="228600" cy="2286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3232" y="37581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Legal jargon is inaccessible — especially in Hindi/Punjabi speaking regions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206240"/>
            <a:ext cx="228600" cy="2286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13232" y="41696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Finding a specialized, affordable, and trustworthy lawyer is near impossible</a:t>
            </a:r>
            <a:endParaRPr lang="en-US" sz="1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617720"/>
            <a:ext cx="228600" cy="2286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13232" y="458114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No single platform bridges the gap between problem understanding and lawyer access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CURRENT SOLUTIONS FAIL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3657600"/>
              </a:tblGrid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Solution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Offers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Critical Gap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Google Search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General info about laws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No personalization; legal jargon unfiltered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vakilsearch / LegalZoom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Document templates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No problem understanding or lawyer matching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JustDial / Lawyer Directories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List of lawyers nearby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No AI triage; user doesn't know who to pick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Legal Aid NGOs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Free consultation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Limited reach; hard to access in rural areas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General Chatbots (ChatGPT)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Broad answers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53E3E"/>
                          </a:solidFill>
                        </a:rPr>
                        <a:t>No verified lawyers, no case classification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00A896"/>
                </a:solidFill>
              </a:rPr>
              <a:t>There is no platform that combines problem understanding, legal references, and intelligent lawyer matching in one place.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VaadVihar is a three-layer platform that helps users understand their legal problem using AI, enriches it with real citations from Indian law, and connects them with the best-matched lawyer — all in one place.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828800"/>
            <a:ext cx="2743200" cy="2743200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828800"/>
            <a:ext cx="274320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1965960"/>
            <a:ext cx="411480" cy="4114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6596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Case Understanding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29718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User inputs problem in plain language. AI classifies case type, identifies relevant IPC sections, and suggests immediate next steps.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1828800"/>
            <a:ext cx="2743200" cy="2743200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828800"/>
            <a:ext cx="2743200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14" name="Shape 11"/>
          <p:cNvSpPr/>
          <p:nvPr/>
        </p:nvSpPr>
        <p:spPr>
          <a:xfrm>
            <a:off x="3337560" y="1965960"/>
            <a:ext cx="411480" cy="41148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5" name="Text 12"/>
          <p:cNvSpPr/>
          <p:nvPr/>
        </p:nvSpPr>
        <p:spPr>
          <a:xfrm>
            <a:off x="33375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96596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3756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Knowledge Layer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337560" y="29718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Real citations from Indian Kanoon. Explains relevant sections in simple language — no legal jargon.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72200" y="1828800"/>
            <a:ext cx="2743200" cy="2743200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72200" y="1828800"/>
            <a:ext cx="27432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Shape 17"/>
          <p:cNvSpPr/>
          <p:nvPr/>
        </p:nvSpPr>
        <p:spPr>
          <a:xfrm>
            <a:off x="6263640" y="1965960"/>
            <a:ext cx="411480" cy="41148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Text 18"/>
          <p:cNvSpPr/>
          <p:nvPr/>
        </p:nvSpPr>
        <p:spPr>
          <a:xfrm>
            <a:off x="62636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6596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63640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Marketplace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263640" y="297180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Verified lawyer profiles with specialization, ratings &amp; location. AI recommends top 3 lawyers based on case type.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00A896">
              <a:alpha val="85000"/>
            </a:srgbClr>
          </a:solidFill>
          <a:ln/>
        </p:spPr>
      </p:sp>
      <p:sp>
        <p:nvSpPr>
          <p:cNvPr id="27" name="Text 2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  AI provides guidance only. Final legal advice is always given by verified, licensed lawyers.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IT WORKS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8872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50876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1325880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202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25146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1. User Input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8328" y="29260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Submits problem in natural language (English, Hindi, or Punjabi)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783080" y="2377440"/>
            <a:ext cx="228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38528" y="2221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›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011680" y="118872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011680" y="1188720"/>
            <a:ext cx="150876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Shape 13"/>
          <p:cNvSpPr/>
          <p:nvPr/>
        </p:nvSpPr>
        <p:spPr>
          <a:xfrm>
            <a:off x="2542032" y="1325880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17" name="Text 14"/>
          <p:cNvSpPr/>
          <p:nvPr/>
        </p:nvSpPr>
        <p:spPr>
          <a:xfrm>
            <a:off x="254203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920240"/>
            <a:ext cx="50292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57400" y="25146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2. AI Analysis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075688" y="29260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LLM classifies case, extracts IPC sections &amp; severity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520440" y="2377440"/>
            <a:ext cx="228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75888" y="2221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›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3749040" y="118872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3749040" y="1188720"/>
            <a:ext cx="150876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Shape 21"/>
          <p:cNvSpPr/>
          <p:nvPr/>
        </p:nvSpPr>
        <p:spPr>
          <a:xfrm>
            <a:off x="4279392" y="1325880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26" name="Text 22"/>
          <p:cNvSpPr/>
          <p:nvPr/>
        </p:nvSpPr>
        <p:spPr>
          <a:xfrm>
            <a:off x="427939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920240"/>
            <a:ext cx="502920" cy="50292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3794760" y="25146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3. Legal Fetch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3813048" y="29260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Indian Kanoon API returns real case citations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5257800" y="2377440"/>
            <a:ext cx="228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413248" y="2221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›</a:t>
            </a:r>
            <a:endParaRPr lang="en-US" sz="2000" dirty="0"/>
          </a:p>
        </p:txBody>
      </p:sp>
      <p:sp>
        <p:nvSpPr>
          <p:cNvPr id="32" name="Shape 27"/>
          <p:cNvSpPr/>
          <p:nvPr/>
        </p:nvSpPr>
        <p:spPr>
          <a:xfrm>
            <a:off x="5486400" y="118872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5486400" y="1188720"/>
            <a:ext cx="150876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4" name="Shape 29"/>
          <p:cNvSpPr/>
          <p:nvPr/>
        </p:nvSpPr>
        <p:spPr>
          <a:xfrm>
            <a:off x="6016752" y="1325880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35" name="Text 30"/>
          <p:cNvSpPr/>
          <p:nvPr/>
        </p:nvSpPr>
        <p:spPr>
          <a:xfrm>
            <a:off x="601675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920240"/>
            <a:ext cx="502920" cy="5029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532120" y="25146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4. Case Stored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5550408" y="29260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Structured case saved in Supabase PostgreSQL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6995160" y="2377440"/>
            <a:ext cx="228600" cy="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150608" y="22219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</a:rPr>
              <a:t>›</a:t>
            </a:r>
            <a:endParaRPr lang="en-US" sz="2000" dirty="0"/>
          </a:p>
        </p:txBody>
      </p:sp>
      <p:sp>
        <p:nvSpPr>
          <p:cNvPr id="41" name="Shape 35"/>
          <p:cNvSpPr/>
          <p:nvPr/>
        </p:nvSpPr>
        <p:spPr>
          <a:xfrm>
            <a:off x="7223760" y="1188720"/>
            <a:ext cx="1508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7223760" y="1188720"/>
            <a:ext cx="150876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3" name="Shape 37"/>
          <p:cNvSpPr/>
          <p:nvPr/>
        </p:nvSpPr>
        <p:spPr>
          <a:xfrm>
            <a:off x="7754112" y="1325880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44" name="Text 38"/>
          <p:cNvSpPr/>
          <p:nvPr/>
        </p:nvSpPr>
        <p:spPr>
          <a:xfrm>
            <a:off x="775411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920240"/>
            <a:ext cx="502920" cy="502920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7269480" y="251460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5. Lawyer Match</a:t>
            </a:r>
            <a:endParaRPr lang="en-US" sz="1100" dirty="0"/>
          </a:p>
        </p:txBody>
      </p:sp>
      <p:sp>
        <p:nvSpPr>
          <p:cNvPr id="47" name="Text 40"/>
          <p:cNvSpPr/>
          <p:nvPr/>
        </p:nvSpPr>
        <p:spPr>
          <a:xfrm>
            <a:off x="7287768" y="29260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AI recommends lawyers; user connects via chat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274320" y="3794760"/>
            <a:ext cx="8595360" cy="10972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2"/>
          <p:cNvSpPr/>
          <p:nvPr/>
        </p:nvSpPr>
        <p:spPr>
          <a:xfrm>
            <a:off x="502920" y="3886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💬  Example Input: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502920" y="4133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"Someone took my money and is not returning it."</a:t>
            </a:r>
            <a:endParaRPr lang="en-US" sz="1100" dirty="0"/>
          </a:p>
        </p:txBody>
      </p:sp>
      <p:sp>
        <p:nvSpPr>
          <p:cNvPr id="51" name="Text 44"/>
          <p:cNvSpPr/>
          <p:nvPr/>
        </p:nvSpPr>
        <p:spPr>
          <a:xfrm>
            <a:off x="475488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</a:rPr>
              <a:t>🤖  AI Output:</a:t>
            </a:r>
            <a:endParaRPr lang="en-US" sz="1100" dirty="0"/>
          </a:p>
        </p:txBody>
      </p:sp>
      <p:sp>
        <p:nvSpPr>
          <p:cNvPr id="52" name="Text 45"/>
          <p:cNvSpPr/>
          <p:nvPr/>
        </p:nvSpPr>
        <p:spPr>
          <a:xfrm>
            <a:off x="4754880" y="413308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Case: Fraud  •  IPC 420, 406  •  Severity: High  •  Action: File FIR + consult lawyer</a:t>
            </a:r>
            <a:endParaRPr lang="en-US" sz="1050" dirty="0"/>
          </a:p>
        </p:txBody>
      </p:sp>
      <p:sp>
        <p:nvSpPr>
          <p:cNvPr id="53" name="Shape 46"/>
          <p:cNvSpPr/>
          <p:nvPr/>
        </p:nvSpPr>
        <p:spPr>
          <a:xfrm>
            <a:off x="4526280" y="3886200"/>
            <a:ext cx="0" cy="77724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1115568"/>
            <a:ext cx="2011680" cy="1691640"/>
          </a:xfrm>
          <a:prstGeom prst="rect">
            <a:avLst/>
          </a:prstGeom>
          <a:solidFill>
            <a:srgbClr val="F8FB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15568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252728"/>
            <a:ext cx="411480" cy="411480"/>
          </a:xfrm>
          <a:prstGeom prst="ellipse">
            <a:avLst/>
          </a:prstGeom>
          <a:solidFill>
            <a:srgbClr val="E0F4F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71016"/>
            <a:ext cx="374904" cy="3749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" y="17373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Natural Language Input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9184" y="20756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Users describe their problem in everyday language — no legal knowledge required.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432304" y="1115568"/>
            <a:ext cx="2011680" cy="1691640"/>
          </a:xfrm>
          <a:prstGeom prst="rect">
            <a:avLst/>
          </a:prstGeom>
          <a:solidFill>
            <a:srgbClr val="F8FB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32304" y="1115568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3" name="Shape 10"/>
          <p:cNvSpPr/>
          <p:nvPr/>
        </p:nvSpPr>
        <p:spPr>
          <a:xfrm>
            <a:off x="2523744" y="1252728"/>
            <a:ext cx="411480" cy="411480"/>
          </a:xfrm>
          <a:prstGeom prst="ellipse">
            <a:avLst/>
          </a:prstGeom>
          <a:solidFill>
            <a:srgbClr val="E0F4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271016"/>
            <a:ext cx="374904" cy="3749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05456" y="17373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Structured Case Analysis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505456" y="20756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AI extracts case type, relevant IPC sections, severity, and recommended next steps.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608576" y="1115568"/>
            <a:ext cx="2011680" cy="1691640"/>
          </a:xfrm>
          <a:prstGeom prst="rect">
            <a:avLst/>
          </a:prstGeom>
          <a:solidFill>
            <a:srgbClr val="F8FB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08576" y="1115568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Shape 15"/>
          <p:cNvSpPr/>
          <p:nvPr/>
        </p:nvSpPr>
        <p:spPr>
          <a:xfrm>
            <a:off x="4700016" y="1252728"/>
            <a:ext cx="411480" cy="411480"/>
          </a:xfrm>
          <a:prstGeom prst="ellipse">
            <a:avLst/>
          </a:prstGeom>
          <a:solidFill>
            <a:srgbClr val="E0F4F1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304" y="1271016"/>
            <a:ext cx="374904" cy="3749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81728" y="17373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Real Legal Citations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681728" y="20756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Live data from Indian Kanoon — actual case references, not generic information.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6784848" y="1115568"/>
            <a:ext cx="2011680" cy="1691640"/>
          </a:xfrm>
          <a:prstGeom prst="rect">
            <a:avLst/>
          </a:prstGeom>
          <a:solidFill>
            <a:srgbClr val="F8FB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784848" y="1115568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5" name="Shape 20"/>
          <p:cNvSpPr/>
          <p:nvPr/>
        </p:nvSpPr>
        <p:spPr>
          <a:xfrm>
            <a:off x="6876288" y="1252728"/>
            <a:ext cx="411480" cy="411480"/>
          </a:xfrm>
          <a:prstGeom prst="ellipse">
            <a:avLst/>
          </a:prstGeom>
          <a:solidFill>
            <a:srgbClr val="E0F4F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76" y="1271016"/>
            <a:ext cx="374904" cy="3749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58000" y="173736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Multilingual Support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858000" y="207568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Hindi and Punjabi-friendly UI targeting rural and semi-urban users.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256032" y="3035808"/>
            <a:ext cx="2011680" cy="1691640"/>
          </a:xfrm>
          <a:prstGeom prst="rect">
            <a:avLst/>
          </a:prstGeom>
          <a:solidFill>
            <a:srgbClr val="F8FB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256032" y="3035808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1" name="Shape 25"/>
          <p:cNvSpPr/>
          <p:nvPr/>
        </p:nvSpPr>
        <p:spPr>
          <a:xfrm>
            <a:off x="347472" y="3172968"/>
            <a:ext cx="411480" cy="411480"/>
          </a:xfrm>
          <a:prstGeom prst="ellipse">
            <a:avLst/>
          </a:prstGeom>
          <a:solidFill>
            <a:srgbClr val="E0F4F1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191256"/>
            <a:ext cx="374904" cy="37490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29184" y="36576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Verified Lawyer Profiles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329184" y="399592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Lawyers onboarded with credentials, specialization, rating, and location.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2432304" y="3035808"/>
            <a:ext cx="2011680" cy="1691640"/>
          </a:xfrm>
          <a:prstGeom prst="rect">
            <a:avLst/>
          </a:prstGeom>
          <a:solidFill>
            <a:srgbClr val="F8FB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2432304" y="3035808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7" name="Shape 30"/>
          <p:cNvSpPr/>
          <p:nvPr/>
        </p:nvSpPr>
        <p:spPr>
          <a:xfrm>
            <a:off x="2523744" y="3172968"/>
            <a:ext cx="411480" cy="411480"/>
          </a:xfrm>
          <a:prstGeom prst="ellipse">
            <a:avLst/>
          </a:prstGeom>
          <a:solidFill>
            <a:srgbClr val="E0F4F1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2032" y="3191256"/>
            <a:ext cx="374904" cy="37490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2505456" y="36576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Smart Lawyer Matching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2505456" y="399592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AI recommends top 3 lawyers based on case type — not just a generic listing.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4608576" y="3035808"/>
            <a:ext cx="2011680" cy="1691640"/>
          </a:xfrm>
          <a:prstGeom prst="rect">
            <a:avLst/>
          </a:prstGeom>
          <a:solidFill>
            <a:srgbClr val="F8FB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4608576" y="3035808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3" name="Shape 35"/>
          <p:cNvSpPr/>
          <p:nvPr/>
        </p:nvSpPr>
        <p:spPr>
          <a:xfrm>
            <a:off x="4700016" y="3172968"/>
            <a:ext cx="411480" cy="411480"/>
          </a:xfrm>
          <a:prstGeom prst="ellipse">
            <a:avLst/>
          </a:prstGeom>
          <a:solidFill>
            <a:srgbClr val="E0F4F1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8304" y="3191256"/>
            <a:ext cx="374904" cy="374904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4681728" y="36576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In-App Chat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4681728" y="399592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Direct secure chat between user and lawyer powered by Supabase Realtime.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6784848" y="3035808"/>
            <a:ext cx="2011680" cy="1691640"/>
          </a:xfrm>
          <a:prstGeom prst="rect">
            <a:avLst/>
          </a:prstGeom>
          <a:solidFill>
            <a:srgbClr val="F8FB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6784848" y="3035808"/>
            <a:ext cx="201168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9" name="Shape 40"/>
          <p:cNvSpPr/>
          <p:nvPr/>
        </p:nvSpPr>
        <p:spPr>
          <a:xfrm>
            <a:off x="6876288" y="3172968"/>
            <a:ext cx="411480" cy="411480"/>
          </a:xfrm>
          <a:prstGeom prst="ellipse">
            <a:avLst/>
          </a:prstGeom>
          <a:solidFill>
            <a:srgbClr val="E0F4F1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4576" y="3191256"/>
            <a:ext cx="374904" cy="374904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6858000" y="365760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Data Privacy by Design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6858000" y="3995928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User case data stored securely in Supabase with row-level security policies.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CASE UNDERSTANDING ENGINE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Processing 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63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User submits problem (free text)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755648"/>
            <a:ext cx="0" cy="32004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75688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075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Prompt engineering + context injection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368296"/>
            <a:ext cx="0" cy="32004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88336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6883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LLM call (OpenAI / Gemini)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2980944"/>
            <a:ext cx="0" cy="32004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00984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00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3009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Structured JSON output parsed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3593592"/>
            <a:ext cx="0" cy="32004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13632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913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Result stored + displayed to user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960120"/>
            <a:ext cx="4251960" cy="3931920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1024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</a:rPr>
              <a:t>AI Output Structure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09160" y="1463040"/>
            <a:ext cx="3931920" cy="4389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148132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case_type: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26480" y="148132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Fraud / Civil / Criminal / Family ...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002536"/>
            <a:ext cx="3931920" cy="4389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202082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ipc_sections: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26480" y="202082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e.g., IPC 420, 406, 302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542032"/>
            <a:ext cx="3931920" cy="4389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25603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3E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126480" y="256032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/ Medium / High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081528"/>
            <a:ext cx="3931920" cy="4389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30998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summary: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26480" y="309981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language explanation of the case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621024"/>
            <a:ext cx="3931920" cy="4389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63931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next_steps: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126480" y="363931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FIR / Consult lawyer / Send notice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4160520"/>
            <a:ext cx="3931920" cy="4389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41788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lawyer_category: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26480" y="41788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Criminal / Civil / Family Lawyer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LEGAL KNOWLEDGE &amp; CITATION LAYER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4300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023360" cy="54864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26187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Indian Kanoon API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18105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Query built from AI-extracted IPC sections + case type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33172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1520" y="23134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Returns real judgements from Indian courts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83464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1520" y="28163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Displayed to user in simplified language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33756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1520" y="3319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Builds credibility — users see actual case law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840480"/>
            <a:ext cx="228600" cy="2286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31520" y="3822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Lawyers can verify context before consultation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4572000" y="1143000"/>
            <a:ext cx="42519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4572000" y="1143000"/>
            <a:ext cx="4251960" cy="54864"/>
          </a:xfrm>
          <a:prstGeom prst="rect">
            <a:avLst/>
          </a:prstGeom>
          <a:solidFill>
            <a:srgbClr val="6C63FF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1261872"/>
            <a:ext cx="411480" cy="4114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12080" y="126187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Why Citations Matter</a:t>
            </a:r>
            <a:endParaRPr lang="en-US" sz="1400" dirty="0"/>
          </a:p>
        </p:txBody>
      </p:sp>
      <p:sp>
        <p:nvSpPr>
          <p:cNvPr id="23" name="Shape 14"/>
          <p:cNvSpPr/>
          <p:nvPr/>
        </p:nvSpPr>
        <p:spPr>
          <a:xfrm>
            <a:off x="4709160" y="1828800"/>
            <a:ext cx="3977640" cy="594360"/>
          </a:xfrm>
          <a:prstGeom prst="rect">
            <a:avLst/>
          </a:prstGeom>
          <a:solidFill>
            <a:srgbClr val="E0F4F1"/>
          </a:solidFill>
          <a:ln/>
        </p:spPr>
      </p:sp>
      <p:sp>
        <p:nvSpPr>
          <p:cNvPr id="24" name="Text 15"/>
          <p:cNvSpPr/>
          <p:nvPr/>
        </p:nvSpPr>
        <p:spPr>
          <a:xfrm>
            <a:off x="4800600" y="1856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Trust</a:t>
            </a:r>
            <a:endParaRPr lang="en-US" sz="1100" dirty="0"/>
          </a:p>
        </p:txBody>
      </p:sp>
      <p:sp>
        <p:nvSpPr>
          <p:cNvPr id="25" name="Text 16"/>
          <p:cNvSpPr/>
          <p:nvPr/>
        </p:nvSpPr>
        <p:spPr>
          <a:xfrm>
            <a:off x="4800600" y="2103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Users see their case backed by real judicial precedents, not just AI guesses.</a:t>
            </a:r>
            <a:endParaRPr lang="en-US" sz="1050" dirty="0"/>
          </a:p>
        </p:txBody>
      </p:sp>
      <p:sp>
        <p:nvSpPr>
          <p:cNvPr id="26" name="Shape 17"/>
          <p:cNvSpPr/>
          <p:nvPr/>
        </p:nvSpPr>
        <p:spPr>
          <a:xfrm>
            <a:off x="4709160" y="2532888"/>
            <a:ext cx="3977640" cy="594360"/>
          </a:xfrm>
          <a:prstGeom prst="rect">
            <a:avLst/>
          </a:prstGeom>
          <a:solidFill>
            <a:srgbClr val="E0F4F1"/>
          </a:solidFill>
          <a:ln/>
        </p:spPr>
      </p:sp>
      <p:sp>
        <p:nvSpPr>
          <p:cNvPr id="27" name="Text 18"/>
          <p:cNvSpPr/>
          <p:nvPr/>
        </p:nvSpPr>
        <p:spPr>
          <a:xfrm>
            <a:off x="4800600" y="2560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Lawyer Prep</a:t>
            </a:r>
            <a:endParaRPr lang="en-US" sz="1100" dirty="0"/>
          </a:p>
        </p:txBody>
      </p:sp>
      <p:sp>
        <p:nvSpPr>
          <p:cNvPr id="28" name="Text 19"/>
          <p:cNvSpPr/>
          <p:nvPr/>
        </p:nvSpPr>
        <p:spPr>
          <a:xfrm>
            <a:off x="4800600" y="2807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Lawyers receive pre-briefed cases, saving billable time and improving quality.</a:t>
            </a:r>
            <a:endParaRPr lang="en-US" sz="1050" dirty="0"/>
          </a:p>
        </p:txBody>
      </p:sp>
      <p:sp>
        <p:nvSpPr>
          <p:cNvPr id="29" name="Shape 20"/>
          <p:cNvSpPr/>
          <p:nvPr/>
        </p:nvSpPr>
        <p:spPr>
          <a:xfrm>
            <a:off x="4709160" y="3236976"/>
            <a:ext cx="3977640" cy="594360"/>
          </a:xfrm>
          <a:prstGeom prst="rect">
            <a:avLst/>
          </a:prstGeom>
          <a:solidFill>
            <a:srgbClr val="E0F4F1"/>
          </a:solidFill>
          <a:ln/>
        </p:spPr>
      </p:sp>
      <p:sp>
        <p:nvSpPr>
          <p:cNvPr id="30" name="Text 21"/>
          <p:cNvSpPr/>
          <p:nvPr/>
        </p:nvSpPr>
        <p:spPr>
          <a:xfrm>
            <a:off x="4800600" y="32644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Education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4800600" y="3511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Users understand relevant laws before even speaking to a lawyer.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4709160" y="3941064"/>
            <a:ext cx="3977640" cy="594360"/>
          </a:xfrm>
          <a:prstGeom prst="rect">
            <a:avLst/>
          </a:prstGeom>
          <a:solidFill>
            <a:srgbClr val="E0F4F1"/>
          </a:solidFill>
          <a:ln/>
        </p:spPr>
      </p:sp>
      <p:sp>
        <p:nvSpPr>
          <p:cNvPr id="33" name="Text 24"/>
          <p:cNvSpPr/>
          <p:nvPr/>
        </p:nvSpPr>
        <p:spPr>
          <a:xfrm>
            <a:off x="4800600" y="39684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</a:rPr>
              <a:t>Accuracy Check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4800600" y="421538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AI output can be cross-verified against real law, reducing hallucination risk.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LAWYER MARKETPLACE &amp; MATCHING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143000"/>
            <a:ext cx="3840480" cy="36576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Matching Algorithm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Case Type Fit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34747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65960"/>
            <a:ext cx="3127248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94767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90%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042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IPC Section Specialization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34747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32888"/>
            <a:ext cx="2779776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25146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80%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8712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Location Proximity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99816"/>
            <a:ext cx="34747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99816"/>
            <a:ext cx="2258568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3703320" y="30815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65%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381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User Rating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66744"/>
            <a:ext cx="34747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666744"/>
            <a:ext cx="260604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3703320" y="364845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75%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0050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Availability / Response Rate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33672"/>
            <a:ext cx="347472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233672"/>
            <a:ext cx="2084832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3703320" y="42153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</a:rPr>
              <a:t>60%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389120" y="1143000"/>
            <a:ext cx="4434840" cy="36576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0" y="12344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Sample Lawyer Profile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0" y="1691640"/>
            <a:ext cx="40690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17830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394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Adv. Ranjit Sharma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94960" y="20574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Criminal Law  •  15 yrs exp  •  Chandigarh</a:t>
            </a:r>
            <a:endParaRPr lang="en-US" sz="1000" dirty="0"/>
          </a:p>
        </p:txBody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331720"/>
            <a:ext cx="219456" cy="219456"/>
          </a:xfrm>
          <a:prstGeom prst="rect">
            <a:avLst/>
          </a:prstGeom>
        </p:spPr>
      </p:pic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331720"/>
            <a:ext cx="219456" cy="219456"/>
          </a:xfrm>
          <a:prstGeom prst="rect">
            <a:avLst/>
          </a:prstGeom>
        </p:spPr>
      </p:pic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2331720"/>
            <a:ext cx="219456" cy="219456"/>
          </a:xfrm>
          <a:prstGeom prst="rect">
            <a:avLst/>
          </a:prstGeom>
        </p:spPr>
      </p:pic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331720"/>
            <a:ext cx="219456" cy="219456"/>
          </a:xfrm>
          <a:prstGeom prst="rect">
            <a:avLst/>
          </a:prstGeom>
        </p:spPr>
      </p:pic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331720"/>
            <a:ext cx="219456" cy="21945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766560" y="23317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</a:rPr>
              <a:t>4.8 / 5  (143 reviews)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5394960" y="2651760"/>
            <a:ext cx="1234440" cy="274320"/>
          </a:xfrm>
          <a:prstGeom prst="roundRect">
            <a:avLst>
              <a:gd name="adj" fmla="val 33333"/>
            </a:avLst>
          </a:prstGeom>
          <a:solidFill>
            <a:srgbClr val="00A896"/>
          </a:solidFill>
          <a:ln/>
        </p:spPr>
      </p:sp>
      <p:sp>
        <p:nvSpPr>
          <p:cNvPr id="41" name="Text 34"/>
          <p:cNvSpPr/>
          <p:nvPr/>
        </p:nvSpPr>
        <p:spPr>
          <a:xfrm>
            <a:off x="5394960" y="2651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Top Match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4572000" y="327355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Platform guarantees:</a:t>
            </a:r>
            <a:endParaRPr lang="en-US" sz="11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7720" y="3584448"/>
            <a:ext cx="182880" cy="18288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489204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Verified Bar Council registration</a:t>
            </a:r>
            <a:endParaRPr lang="en-US" sz="105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877056"/>
            <a:ext cx="182880" cy="18288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489204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Specialization tags matched to case type</a:t>
            </a:r>
            <a:endParaRPr lang="en-US" sz="1050" dirty="0"/>
          </a:p>
        </p:txBody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4169664"/>
            <a:ext cx="182880" cy="18288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4892040" y="4151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Real-time chat availability status</a:t>
            </a:r>
            <a:endParaRPr lang="en-US" sz="1050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720" y="4462272"/>
            <a:ext cx="182880" cy="18288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4892040" y="44439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Fee range listed upfront — no hidden costs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457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4114800" cy="1828800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114800" cy="6400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63FF"/>
                </a:solidFill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91440" cy="914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35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React.js / Next.js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92224"/>
            <a:ext cx="91440" cy="914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46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Tailwind CSS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91440" cy="914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Responsive &amp; Mobile-first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91440" cy="9144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68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Hindi/Punjabi i18n support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960120"/>
            <a:ext cx="4114800" cy="1828800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960120"/>
            <a:ext cx="4114800" cy="6400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Backend (Supabase)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48132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4356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PostgreSQL — users, lawyers, cases, chats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179222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17465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Auth — email/phone OTP for both user types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210312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Realtime — chat between user &amp; lawyer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241401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5120640" y="23682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Row-Level Security — data isolation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2971800"/>
            <a:ext cx="4114800" cy="1828800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971800"/>
            <a:ext cx="4114800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081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AI Layer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3493008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447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OpenAI GPT-4o / Gemini (swappable)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803904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758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Prompt engineering for legal context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Structured JSON output (schema-validated)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425696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379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Fallback handling for ambiguous inputs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2971800"/>
            <a:ext cx="4114800" cy="1828800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2971800"/>
            <a:ext cx="4114800" cy="640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3081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Legal Data &amp; Infra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937760" y="3493008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0" y="34472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Indian Kanoon REST API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937760" y="3803904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3" name="Text 41"/>
          <p:cNvSpPr/>
          <p:nvPr/>
        </p:nvSpPr>
        <p:spPr>
          <a:xfrm>
            <a:off x="5120640" y="3758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Vercel / Railway (deployment)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937760" y="4114800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5" name="Text 43"/>
          <p:cNvSpPr/>
          <p:nvPr/>
        </p:nvSpPr>
        <p:spPr>
          <a:xfrm>
            <a:off x="512064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Supabase Edge Functions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937760" y="4425696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47" name="Text 45"/>
          <p:cNvSpPr/>
          <p:nvPr/>
        </p:nvSpPr>
        <p:spPr>
          <a:xfrm>
            <a:off x="5120640" y="4379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Environment-based API key management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Supabase acts as the central backbone — database, auth, realtime, and APIs — reducing backend complexity dramatically.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" y="1188720"/>
            <a:ext cx="6858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96"/>
                </a:solidFill>
              </a:rPr>
              <a:t>CLIENT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" y="2286000"/>
            <a:ext cx="6858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96"/>
                </a:solidFill>
              </a:rPr>
              <a:t>AI LAYER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" y="3383280"/>
            <a:ext cx="6858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" y="3383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96"/>
                </a:solidFill>
              </a:rPr>
              <a:t>BACKEND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" y="4389120"/>
            <a:ext cx="685800" cy="685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A896"/>
                </a:solidFill>
              </a:rPr>
              <a:t>DATA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005840" y="1188720"/>
            <a:ext cx="2286000" cy="6400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1188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Web App (React)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6160" y="1188720"/>
            <a:ext cx="2286000" cy="6400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566160" y="1188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Mobile Browser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286000" cy="640080"/>
          </a:xfrm>
          <a:prstGeom prst="rect">
            <a:avLst/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11887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Lawyer Portal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1874520"/>
            <a:ext cx="0" cy="36576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3984" y="21488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05840" y="2304288"/>
            <a:ext cx="2286000" cy="6400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05840" y="23042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Case Classification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(LLM)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566160" y="2304288"/>
            <a:ext cx="2286000" cy="6400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66160" y="23042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Legal Explanation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(LLM)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304288"/>
            <a:ext cx="2286000" cy="6400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26480" y="230428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Lawyer Matching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(Algorithm)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990088"/>
            <a:ext cx="0" cy="34747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43984" y="321868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▼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05840" y="3401568"/>
            <a:ext cx="2286000" cy="6400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05840" y="34015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Supabase Auth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66160" y="3401568"/>
            <a:ext cx="2286000" cy="6400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566160" y="34015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Supabase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(PostgreSQL)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3401568"/>
            <a:ext cx="2286000" cy="64008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26480" y="340156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Supabase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Realtime Chat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0" y="4087368"/>
            <a:ext cx="0" cy="256032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43984" y="425196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</a:rPr>
              <a:t>▼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05840" y="4407408"/>
            <a:ext cx="2286000" cy="594360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005840" y="44074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User &amp; Case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Records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566160" y="4407408"/>
            <a:ext cx="2286000" cy="594360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566160" y="44074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Lawyer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Profiles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4407408"/>
            <a:ext cx="2286000" cy="594360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26480" y="44074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Indian Kanoon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</a:rPr>
              <a:t>API (Citations)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IMPACT &amp; ACCESSIBILITY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115568"/>
            <a:ext cx="2651760" cy="1143000"/>
          </a:xfrm>
          <a:prstGeom prst="rect">
            <a:avLst/>
          </a:prstGeom>
          <a:solidFill>
            <a:srgbClr val="E0F4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7043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600M+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Rural Indians with limited legal access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115568"/>
            <a:ext cx="2651760" cy="1143000"/>
          </a:xfrm>
          <a:prstGeom prst="rect">
            <a:avLst/>
          </a:prstGeom>
          <a:solidFill>
            <a:srgbClr val="E0F4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17043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Scheduled languages that need legal support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115568"/>
            <a:ext cx="2651760" cy="1143000"/>
          </a:xfrm>
          <a:prstGeom prst="rect">
            <a:avLst/>
          </a:prstGeom>
          <a:solidFill>
            <a:srgbClr val="E0F4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170432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309360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Legal disputes go unresolved due to access barriers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4231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How VaadVihar Addresses These Gaps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4114800" cy="9144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81528"/>
            <a:ext cx="411480" cy="411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5156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Mobile-First Design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51560" y="3246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Fully functional on entry-level Android smartphones — no app download required.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00600" y="2834640"/>
            <a:ext cx="4114800" cy="9144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081528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8640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Vernacular Language UI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486400" y="3246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Hindi and Punjabi interface makes the platform usable for users with no English proficiency.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365760" y="3886200"/>
            <a:ext cx="4114800" cy="9144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33088"/>
            <a:ext cx="411480" cy="411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51560" y="3977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Free Case Analysis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05156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AI case understanding is free — no upfront cost to simply understand your legal position.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800600" y="3886200"/>
            <a:ext cx="4114800" cy="914400"/>
          </a:xfrm>
          <a:prstGeom prst="rect">
            <a:avLst/>
          </a:prstGeom>
          <a:solidFill>
            <a:srgbClr val="F4F7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4133088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0" y="3977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Location-Aware Matching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486400" y="4297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8"/>
                </a:solidFill>
              </a:rPr>
              <a:t>Connects users with lawyers in their district or nearest city — reducing travel cost &amp; effort.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CHALLENGES &amp;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A3AF"/>
                </a:solidFill>
              </a:rPr>
              <a:t>We acknowledge what's hard — and how we're handling 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1115568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64008" cy="1115568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990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3E3E"/>
                </a:solidFill>
              </a:rPr>
              <a:t>AI Hallucination Risk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6733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⚠  LLMs can generate incorrect IPC sections or legal advice.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All AI outputs are validated against Indian Kanoon API. Lawyers always review before formal advice.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14800" cy="1115568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64008" cy="11155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990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Lawyer Verification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6733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⚠  Ensuring all onboarded lawyers have valid Bar Council registration.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Manual verification step + BCI registration number stored in DB with periodic audits.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4114800" cy="1115568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560320"/>
            <a:ext cx="64008" cy="11155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334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Legal Liability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29077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⚠  Platform must not be held liable for AI-generated legal suggestions.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Clear disclaimer on all AI outputs: 'This is guidance only, not legal advice.' Lawyers are the legal authority.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560320"/>
            <a:ext cx="4114800" cy="1115568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560320"/>
            <a:ext cx="64008" cy="111556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6334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Language Accuracy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90779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⚠  Translating legal terms into Hindi/Punjabi without losing precision.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32004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Use templated translations for legal terms, not general-purpose machine translation.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794760"/>
            <a:ext cx="4114800" cy="1115568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794760"/>
            <a:ext cx="64008" cy="111556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8679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</a:rPr>
              <a:t>Indian Kanoon API Rate Limits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1422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⚠  Free tier may not scale under heavy usage.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348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Cache frequent queries in Supabase DB; fallback to internal legal section database.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794760"/>
            <a:ext cx="4114800" cy="1115568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794760"/>
            <a:ext cx="64008" cy="111556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86791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</a:rPr>
              <a:t>User Trust Building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1422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⚠  Rural users may not trust an AI-first platform with sensitive legal matters.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44348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✓  Lawyer profiles are prominent; AI is framed as an assistant, not the decision-maker.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097280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64008" cy="1170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1887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3–6 months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13232" y="1581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Document generation (FIR drafts, legal notices)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600200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28032" y="1581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Voice input for non-literate users</a:t>
            </a:r>
            <a:endParaRPr lang="en-US" sz="10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13232" y="1901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10+ Indian language support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92024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28032" y="19019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Lawyer video consultation (Zoom integration)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274320" y="2395728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274320" y="2395728"/>
            <a:ext cx="64008" cy="1170432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0" name="Shape 14"/>
          <p:cNvSpPr/>
          <p:nvPr/>
        </p:nvSpPr>
        <p:spPr>
          <a:xfrm>
            <a:off x="457200" y="2487168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6C63FF"/>
          </a:solidFill>
          <a:ln/>
        </p:spPr>
      </p:sp>
      <p:sp>
        <p:nvSpPr>
          <p:cNvPr id="21" name="Text 15"/>
          <p:cNvSpPr/>
          <p:nvPr/>
        </p:nvSpPr>
        <p:spPr>
          <a:xfrm>
            <a:off x="457200" y="24871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3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554480" y="24871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6–12 months</a:t>
            </a:r>
            <a:endParaRPr lang="en-US" sz="10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898648"/>
            <a:ext cx="182880" cy="1828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3232" y="2880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Court date tracker and reminder system</a:t>
            </a:r>
            <a:endParaRPr lang="en-US" sz="10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898648"/>
            <a:ext cx="182880" cy="1828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828032" y="2880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AI-powered outcome predictor (based on case precedents)</a:t>
            </a:r>
            <a:endParaRPr lang="en-US" sz="105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218688"/>
            <a:ext cx="182880" cy="18288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13232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Tie-up with district courts for e-filing integration</a:t>
            </a:r>
            <a:endParaRPr lang="en-US" sz="105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218688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4828032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B2B — white-label for NGOs and legal aid bodies</a:t>
            </a:r>
            <a:endParaRPr lang="en-US" sz="1050" dirty="0"/>
          </a:p>
        </p:txBody>
      </p:sp>
      <p:sp>
        <p:nvSpPr>
          <p:cNvPr id="31" name="Shape 21"/>
          <p:cNvSpPr/>
          <p:nvPr/>
        </p:nvSpPr>
        <p:spPr>
          <a:xfrm>
            <a:off x="274320" y="3694176"/>
            <a:ext cx="8595360" cy="11704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2"/>
          <p:cNvSpPr/>
          <p:nvPr/>
        </p:nvSpPr>
        <p:spPr>
          <a:xfrm>
            <a:off x="274320" y="3694176"/>
            <a:ext cx="64008" cy="1170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3" name="Shape 23"/>
          <p:cNvSpPr/>
          <p:nvPr/>
        </p:nvSpPr>
        <p:spPr>
          <a:xfrm>
            <a:off x="457200" y="3785616"/>
            <a:ext cx="1005840" cy="292608"/>
          </a:xfrm>
          <a:prstGeom prst="roundRect">
            <a:avLst>
              <a:gd name="adj" fmla="val 37500"/>
            </a:avLst>
          </a:prstGeom>
          <a:solidFill>
            <a:srgbClr val="F5A623"/>
          </a:solidFill>
          <a:ln/>
        </p:spPr>
      </p:sp>
      <p:sp>
        <p:nvSpPr>
          <p:cNvPr id="34" name="Text 24"/>
          <p:cNvSpPr/>
          <p:nvPr/>
        </p:nvSpPr>
        <p:spPr>
          <a:xfrm>
            <a:off x="457200" y="37856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4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1554480" y="37856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</a:rPr>
              <a:t>12–24 months</a:t>
            </a:r>
            <a:endParaRPr lang="en-US" sz="10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197096"/>
            <a:ext cx="182880" cy="18288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13232" y="4178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Expand to Bangladesh, Sri Lanka (similar legal framework)</a:t>
            </a:r>
            <a:endParaRPr lang="en-US" sz="1050" dirty="0"/>
          </a:p>
        </p:txBody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0" y="4197096"/>
            <a:ext cx="182880" cy="18288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4828032" y="4178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ML model trained on Indian court data</a:t>
            </a:r>
            <a:endParaRPr lang="en-US" sz="1050" dirty="0"/>
          </a:p>
        </p:txBody>
      </p:sp>
      <p:pic>
        <p:nvPicPr>
          <p:cNvPr id="4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517136"/>
            <a:ext cx="182880" cy="182880"/>
          </a:xfrm>
          <a:prstGeom prst="rect">
            <a:avLst/>
          </a:prstGeom>
        </p:spPr>
      </p:pic>
      <p:sp>
        <p:nvSpPr>
          <p:cNvPr id="41" name="Text 28"/>
          <p:cNvSpPr/>
          <p:nvPr/>
        </p:nvSpPr>
        <p:spPr>
          <a:xfrm>
            <a:off x="713232" y="4498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Premium subscription for lawyers (analytics + priority listing)</a:t>
            </a:r>
            <a:endParaRPr lang="en-US" sz="105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0" y="4517136"/>
            <a:ext cx="182880" cy="182880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4828032" y="44988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</a:rPr>
              <a:t>Legal insurance product bundling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457200"/>
            <a:ext cx="2926080" cy="2926080"/>
          </a:xfrm>
          <a:prstGeom prst="ellipse">
            <a:avLst/>
          </a:prstGeom>
          <a:solidFill>
            <a:srgbClr val="00A89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217920" y="3200400"/>
            <a:ext cx="1828800" cy="1828800"/>
          </a:xfrm>
          <a:prstGeom prst="ellipse">
            <a:avLst/>
          </a:prstGeom>
          <a:solidFill>
            <a:srgbClr val="00A896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28800"/>
            <a:ext cx="1005840" cy="10058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502920"/>
            <a:ext cx="2011680" cy="320040"/>
          </a:xfrm>
          <a:prstGeom prst="roundRect">
            <a:avLst>
              <a:gd name="adj" fmla="val 42857"/>
            </a:avLst>
          </a:prstGeom>
          <a:solidFill>
            <a:srgbClr val="00A896"/>
          </a:solidFill>
          <a:ln/>
        </p:spPr>
      </p:sp>
      <p:sp>
        <p:nvSpPr>
          <p:cNvPr id="8" name="Text 5"/>
          <p:cNvSpPr/>
          <p:nvPr/>
        </p:nvSpPr>
        <p:spPr>
          <a:xfrm>
            <a:off x="41148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THANK YOU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11480" y="10058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VaadVihar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411480" y="18745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 gap between legal need and legal help.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450592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" y="2423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AI-powered case understanding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83464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9808" y="2807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Real Indian legal citations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21868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49808" y="31912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Smart, verified lawyer matching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411480" y="3840480"/>
            <a:ext cx="5029200" cy="0"/>
          </a:xfrm>
          <a:prstGeom prst="line">
            <a:avLst/>
          </a:prstGeom>
          <a:noFill/>
          <a:ln w="12700">
            <a:solidFill>
              <a:srgbClr val="1A2E5A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41148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Questions welcome  •  Demo available on request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1148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A896"/>
                </a:solidFill>
              </a:rPr>
              <a:t>Built with  React  •  Supabase  •  OpenAI  •  Indian Kanoon API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VaadVihar – AI-Assisted Legal Platform</dc:title>
  <dc:subject>PptxGenJS Presentation</dc:subject>
  <dc:creator>PptxGenJS</dc:creator>
  <cp:lastModifiedBy>PptxGenJS</cp:lastModifiedBy>
  <cp:revision>1</cp:revision>
  <dcterms:created xsi:type="dcterms:W3CDTF">2026-04-24T11:39:12Z</dcterms:created>
  <dcterms:modified xsi:type="dcterms:W3CDTF">2026-04-24T11:39:12Z</dcterms:modified>
</cp:coreProperties>
</file>